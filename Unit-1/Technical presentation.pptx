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Times New Roman Bold" charset="1" panose="02020803070505020304"/>
      <p:regular r:id="rId28"/>
    </p:embeddedFont>
    <p:embeddedFont>
      <p:font typeface="Times New Roman" charset="1" panose="020206030504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957" y="2446887"/>
            <a:ext cx="16402488" cy="6811413"/>
            <a:chOff x="0" y="0"/>
            <a:chExt cx="21869984" cy="90818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69989" cy="9081884"/>
            </a:xfrm>
            <a:custGeom>
              <a:avLst/>
              <a:gdLst/>
              <a:ahLst/>
              <a:cxnLst/>
              <a:rect r="r" b="b" t="t" l="l"/>
              <a:pathLst>
                <a:path h="9081884" w="21869989">
                  <a:moveTo>
                    <a:pt x="0" y="0"/>
                  </a:moveTo>
                  <a:lnTo>
                    <a:pt x="21869989" y="0"/>
                  </a:lnTo>
                  <a:lnTo>
                    <a:pt x="21869989" y="9081884"/>
                  </a:lnTo>
                  <a:lnTo>
                    <a:pt x="0" y="90818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80" t="0" r="-328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869984" cy="9110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TECHNICAL PRESENTATION</a:t>
              </a:r>
            </a:p>
            <a:p>
              <a:pPr algn="ctr">
                <a:lnSpc>
                  <a:spcPts val="3360"/>
                </a:lnSpc>
              </a:pPr>
            </a:p>
            <a:p>
              <a:pPr algn="ctr">
                <a:lnSpc>
                  <a:spcPts val="3000"/>
                </a:lnSpc>
              </a:pPr>
              <a:r>
                <a:rPr lang="en-US" sz="2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CSA0509</a:t>
              </a:r>
              <a:r>
                <a:rPr lang="en-US" sz="2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-DATABASE MANAGEMENT SYSTEM  </a:t>
              </a:r>
            </a:p>
            <a:p>
              <a:pPr algn="ctr">
                <a:lnSpc>
                  <a:spcPts val="51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40395" y="209064"/>
            <a:ext cx="11656886" cy="2092738"/>
            <a:chOff x="0" y="0"/>
            <a:chExt cx="15542514" cy="2790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2513" cy="2790317"/>
            </a:xfrm>
            <a:custGeom>
              <a:avLst/>
              <a:gdLst/>
              <a:ahLst/>
              <a:cxnLst/>
              <a:rect r="r" b="b" t="t" l="l"/>
              <a:pathLst>
                <a:path h="2790317" w="15542513">
                  <a:moveTo>
                    <a:pt x="0" y="0"/>
                  </a:moveTo>
                  <a:lnTo>
                    <a:pt x="15542513" y="0"/>
                  </a:lnTo>
                  <a:lnTo>
                    <a:pt x="15542513" y="2790317"/>
                  </a:lnTo>
                  <a:lnTo>
                    <a:pt x="0" y="2790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355" r="0" b="-435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58957" y="7560955"/>
            <a:ext cx="10370868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BY,</a:t>
            </a:r>
          </a:p>
          <a:p>
            <a:pPr algn="l">
              <a:lnSpc>
                <a:spcPts val="432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SANDRA SUDEVAN (192424422)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4972" y="585035"/>
            <a:ext cx="1750457" cy="1716729"/>
            <a:chOff x="0" y="0"/>
            <a:chExt cx="2333942" cy="22889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4006" cy="2288921"/>
            </a:xfrm>
            <a:custGeom>
              <a:avLst/>
              <a:gdLst/>
              <a:ahLst/>
              <a:cxnLst/>
              <a:rect r="r" b="b" t="t" l="l"/>
              <a:pathLst>
                <a:path h="2288921" w="2334006">
                  <a:moveTo>
                    <a:pt x="0" y="0"/>
                  </a:moveTo>
                  <a:lnTo>
                    <a:pt x="2334006" y="0"/>
                  </a:lnTo>
                  <a:lnTo>
                    <a:pt x="2334006" y="2288921"/>
                  </a:lnTo>
                  <a:lnTo>
                    <a:pt x="0" y="228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955" r="2" b="-1295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091011" y="425015"/>
            <a:ext cx="1881502" cy="1919383"/>
            <a:chOff x="0" y="0"/>
            <a:chExt cx="2508669" cy="25591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08631" cy="2559177"/>
            </a:xfrm>
            <a:custGeom>
              <a:avLst/>
              <a:gdLst/>
              <a:ahLst/>
              <a:cxnLst/>
              <a:rect r="r" b="b" t="t" l="l"/>
              <a:pathLst>
                <a:path h="2559177" w="2508631">
                  <a:moveTo>
                    <a:pt x="0" y="0"/>
                  </a:moveTo>
                  <a:lnTo>
                    <a:pt x="2508631" y="0"/>
                  </a:lnTo>
                  <a:lnTo>
                    <a:pt x="2508631" y="2559177"/>
                  </a:lnTo>
                  <a:lnTo>
                    <a:pt x="0" y="2559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4802" y="2269179"/>
            <a:ext cx="11652209" cy="743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41"/>
              </a:lnSpc>
            </a:pPr>
          </a:p>
          <a:p>
            <a:pPr algn="l" marL="861652" indent="-430826" lvl="1">
              <a:lnSpc>
                <a:spcPts val="8541"/>
              </a:lnSpc>
              <a:buAutoNum type="arabicPeriod" startAt="1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for an Online Library System</a:t>
            </a:r>
          </a:p>
          <a:p>
            <a:pPr algn="just" marL="861652" indent="-430826" lvl="1">
              <a:lnSpc>
                <a:spcPts val="8541"/>
              </a:lnSpc>
              <a:buFont typeface="Arial"/>
              <a:buChar char="•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 represents entities, attributes, and relationships.</a:t>
            </a:r>
          </a:p>
          <a:p>
            <a:pPr algn="just" marL="861652" indent="-430826" lvl="1">
              <a:lnSpc>
                <a:spcPts val="8540"/>
              </a:lnSpc>
              <a:buFont typeface="Arial"/>
              <a:buChar char="•"/>
            </a:pPr>
            <a:r>
              <a:rPr lang="en-US" sz="39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design a database before implementation.</a:t>
            </a:r>
          </a:p>
          <a:p>
            <a:pPr algn="just" marL="861652" indent="-430826" lvl="1">
              <a:lnSpc>
                <a:spcPts val="8541"/>
              </a:lnSpc>
              <a:buFont typeface="Arial"/>
              <a:buChar char="•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organize library data efficiently.</a:t>
            </a:r>
          </a:p>
          <a:p>
            <a:pPr algn="just" marL="912420" indent="-304140" lvl="2">
              <a:lnSpc>
                <a:spcPts val="854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756480" y="3398329"/>
            <a:ext cx="5158864" cy="4185695"/>
            <a:chOff x="0" y="0"/>
            <a:chExt cx="6878485" cy="55809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8447" cy="5580888"/>
            </a:xfrm>
            <a:custGeom>
              <a:avLst/>
              <a:gdLst/>
              <a:ahLst/>
              <a:cxnLst/>
              <a:rect r="r" b="b" t="t" l="l"/>
              <a:pathLst>
                <a:path h="5580888" w="6878447">
                  <a:moveTo>
                    <a:pt x="0" y="0"/>
                  </a:moveTo>
                  <a:lnTo>
                    <a:pt x="6878447" y="0"/>
                  </a:lnTo>
                  <a:lnTo>
                    <a:pt x="6878447" y="5580888"/>
                  </a:lnTo>
                  <a:lnTo>
                    <a:pt x="0" y="5580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625" r="0" b="-1162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520842" y="561975"/>
            <a:ext cx="548714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5334" y="1627069"/>
            <a:ext cx="16181194" cy="917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library management is difficult.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Tracking books and members takes time.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an efficient database system.</a:t>
            </a:r>
          </a:p>
          <a:p>
            <a:pPr algn="l">
              <a:lnSpc>
                <a:spcPts val="8112"/>
              </a:lnSpc>
            </a:pP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Entities: Book, Member, Librarian, Author, Issue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Attributes: Book_ID, Title, Member_ID, Issue_Date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Relationships: Member borrows Book, Librarian manages Issue</a:t>
            </a:r>
          </a:p>
          <a:p>
            <a:pPr algn="just" marL="866697" indent="-288899" lvl="2">
              <a:lnSpc>
                <a:spcPts val="811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99368" y="467544"/>
            <a:ext cx="1026664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2494" y="1637376"/>
            <a:ext cx="5686142" cy="8014141"/>
            <a:chOff x="0" y="0"/>
            <a:chExt cx="8876499" cy="125106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76524" cy="12510746"/>
            </a:xfrm>
            <a:custGeom>
              <a:avLst/>
              <a:gdLst/>
              <a:ahLst/>
              <a:cxnLst/>
              <a:rect r="r" b="b" t="t" l="l"/>
              <a:pathLst>
                <a:path h="12510746" w="8876524">
                  <a:moveTo>
                    <a:pt x="0" y="0"/>
                  </a:moveTo>
                  <a:lnTo>
                    <a:pt x="8876524" y="0"/>
                  </a:lnTo>
                  <a:lnTo>
                    <a:pt x="8876524" y="12510746"/>
                  </a:lnTo>
                  <a:lnTo>
                    <a:pt x="0" y="12510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60" r="0" b="-146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006569" y="467544"/>
            <a:ext cx="37143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73014" y="3685203"/>
            <a:ext cx="8347115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65860" indent="-582930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Rectangles (Entities)</a:t>
            </a:r>
          </a:p>
          <a:p>
            <a:pPr algn="ctr" marL="1165860" indent="-582930" lvl="1">
              <a:lnSpc>
                <a:spcPts val="6480"/>
              </a:lnSpc>
              <a:spcBef>
                <a:spcPct val="0"/>
              </a:spcBef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Diam</a:t>
            </a: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onds (Relationships)</a:t>
            </a:r>
          </a:p>
          <a:p>
            <a:pPr algn="ctr" marL="1165860" indent="-582930" lvl="1">
              <a:lnSpc>
                <a:spcPts val="6480"/>
              </a:lnSpc>
              <a:spcBef>
                <a:spcPct val="0"/>
              </a:spcBef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Ovals (Attributes)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415853" cy="1629280"/>
            <a:chOff x="0" y="0"/>
            <a:chExt cx="1887804" cy="2172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7855" cy="2172335"/>
            </a:xfrm>
            <a:custGeom>
              <a:avLst/>
              <a:gdLst/>
              <a:ahLst/>
              <a:cxnLst/>
              <a:rect r="r" b="b" t="t" l="l"/>
              <a:pathLst>
                <a:path h="2172335" w="1887855">
                  <a:moveTo>
                    <a:pt x="0" y="0"/>
                  </a:moveTo>
                  <a:lnTo>
                    <a:pt x="1887855" y="0"/>
                  </a:lnTo>
                  <a:lnTo>
                    <a:pt x="1887855" y="2172335"/>
                  </a:lnTo>
                  <a:lnTo>
                    <a:pt x="0" y="2172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2" b="-36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8484" y="144485"/>
            <a:ext cx="1682086" cy="1715957"/>
            <a:chOff x="0" y="0"/>
            <a:chExt cx="2242782" cy="2287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2820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42820">
                  <a:moveTo>
                    <a:pt x="0" y="0"/>
                  </a:moveTo>
                  <a:lnTo>
                    <a:pt x="2242820" y="0"/>
                  </a:lnTo>
                  <a:lnTo>
                    <a:pt x="2242820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44931" y="1139862"/>
            <a:ext cx="15943069" cy="941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1"/>
              </a:lnSpc>
            </a:pPr>
            <a:r>
              <a:rPr lang="en-US" b="true" sz="3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  <a:p>
            <a:pPr algn="l" marL="822498" indent="-274166" lvl="2">
              <a:lnSpc>
                <a:spcPts val="8351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data redundancy</a:t>
            </a:r>
          </a:p>
          <a:p>
            <a:pPr algn="l" marL="822498" indent="-274166" lvl="2">
              <a:lnSpc>
                <a:spcPts val="8351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data consistency</a:t>
            </a:r>
          </a:p>
          <a:p>
            <a:pPr algn="l" marL="822498" indent="-274166" lvl="2">
              <a:lnSpc>
                <a:spcPts val="8351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database maintenance</a:t>
            </a:r>
          </a:p>
          <a:p>
            <a:pPr algn="l" marL="822498" indent="-274166" lvl="2">
              <a:lnSpc>
                <a:spcPts val="8351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information retrieval</a:t>
            </a:r>
          </a:p>
          <a:p>
            <a:pPr algn="l">
              <a:lnSpc>
                <a:spcPts val="8351"/>
              </a:lnSpc>
            </a:pPr>
            <a:r>
              <a:rPr lang="en-US" b="true" sz="3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 marL="822957" indent="-274319" lvl="2">
              <a:lnSpc>
                <a:spcPts val="8351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diagrams provide a clear blueprint for developing an Online Library Management System.</a:t>
            </a:r>
          </a:p>
          <a:p>
            <a:pPr algn="l" marL="822957" indent="-274319" lvl="2">
              <a:lnSpc>
                <a:spcPts val="835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03849" y="152886"/>
            <a:ext cx="9094651" cy="8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4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 &amp; </a:t>
            </a:r>
            <a:r>
              <a:rPr lang="en-US" sz="4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1618" y="2290913"/>
            <a:ext cx="10765652" cy="81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12"/>
              </a:lnSpc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Entity-Relationship (EER)</a:t>
            </a: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</a:t>
            </a:r>
          </a:p>
          <a:p>
            <a:pPr algn="just" marL="866618" indent="-433309" lvl="1">
              <a:lnSpc>
                <a:spcPts val="8112"/>
              </a:lnSpc>
              <a:buFont typeface="Arial"/>
              <a:buChar char="•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 is an advanced version of the ER model.</a:t>
            </a:r>
          </a:p>
          <a:p>
            <a:pPr algn="just" marL="866618" indent="-433309" lvl="1">
              <a:lnSpc>
                <a:spcPts val="8112"/>
              </a:lnSpc>
              <a:buFont typeface="Arial"/>
              <a:buChar char="•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represents complex database structures using inheritance.</a:t>
            </a:r>
          </a:p>
          <a:p>
            <a:pPr algn="just" marL="866618" indent="-433309" lvl="1">
              <a:lnSpc>
                <a:spcPts val="8112"/>
              </a:lnSpc>
              <a:buFont typeface="Arial"/>
              <a:buChar char="•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introduces generalization and specialization.</a:t>
            </a:r>
          </a:p>
          <a:p>
            <a:pPr algn="just" marL="866618" indent="-433309" lvl="1">
              <a:lnSpc>
                <a:spcPts val="8112"/>
              </a:lnSpc>
              <a:buFont typeface="Arial"/>
              <a:buChar char="•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systems like universities, hospitals, and banks.</a:t>
            </a:r>
          </a:p>
          <a:p>
            <a:pPr algn="just" marL="866697" indent="-288899" lvl="2">
              <a:lnSpc>
                <a:spcPts val="811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507271" y="4082986"/>
            <a:ext cx="6500225" cy="2759223"/>
          </a:xfrm>
          <a:custGeom>
            <a:avLst/>
            <a:gdLst/>
            <a:ahLst/>
            <a:cxnLst/>
            <a:rect r="r" b="b" t="t" l="l"/>
            <a:pathLst>
              <a:path h="2759223" w="6500225">
                <a:moveTo>
                  <a:pt x="0" y="0"/>
                </a:moveTo>
                <a:lnTo>
                  <a:pt x="6500225" y="0"/>
                </a:lnTo>
                <a:lnTo>
                  <a:pt x="6500225" y="2759222"/>
                </a:lnTo>
                <a:lnTo>
                  <a:pt x="0" y="2759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13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53976" y="561975"/>
            <a:ext cx="10820877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EE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 Model – University Case Study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03125" y="1265901"/>
            <a:ext cx="16181194" cy="917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</a:t>
            </a: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eneralization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similar entities into one superclass.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Student, Faculty, Staff → Person.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attributes: Person_ID, Name, Address.</a:t>
            </a:r>
          </a:p>
          <a:p>
            <a:pPr algn="l">
              <a:lnSpc>
                <a:spcPts val="8113"/>
              </a:lnSpc>
            </a:pPr>
            <a:r>
              <a:rPr lang="en-US" b="true" sz="379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Specialization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Divides a superclass into subclasses.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Faculty → Professor, Assistant Professor, HOD.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subclass has its own specific attributes.</a:t>
            </a:r>
          </a:p>
          <a:p>
            <a:pPr algn="just" marL="866697" indent="-288899" lvl="2">
              <a:lnSpc>
                <a:spcPts val="811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698798" y="467544"/>
            <a:ext cx="98677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Generalization and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5334" y="1928298"/>
            <a:ext cx="7178431" cy="7482402"/>
            <a:chOff x="0" y="0"/>
            <a:chExt cx="9571241" cy="99765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71265" cy="9976600"/>
            </a:xfrm>
            <a:custGeom>
              <a:avLst/>
              <a:gdLst/>
              <a:ahLst/>
              <a:cxnLst/>
              <a:rect r="r" b="b" t="t" l="l"/>
              <a:pathLst>
                <a:path h="9976600" w="9571265">
                  <a:moveTo>
                    <a:pt x="0" y="0"/>
                  </a:moveTo>
                  <a:lnTo>
                    <a:pt x="9571265" y="0"/>
                  </a:lnTo>
                  <a:lnTo>
                    <a:pt x="9571265" y="9976600"/>
                  </a:lnTo>
                  <a:lnTo>
                    <a:pt x="0" y="99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66" r="0" b="-56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68363" y="467544"/>
            <a:ext cx="73908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University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EER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6417" y="2783424"/>
            <a:ext cx="8751583" cy="57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University Case Study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Superclass: Pers</a:t>
            </a: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Subclasses: Student, Faculty, Staff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Specialization: Professor, Assistant Professor, HOD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data redundancy.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inheritance.</a:t>
            </a:r>
          </a:p>
          <a:p>
            <a:pPr algn="l" marL="820429" indent="-410214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Organizes data efficiently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4306" y="1622053"/>
            <a:ext cx="16181194" cy="917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  <a:r>
              <a:rPr lang="en-US" b="true" sz="37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pplications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Management System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Management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System</a:t>
            </a:r>
          </a:p>
          <a:p>
            <a:pPr algn="just" marL="866618" indent="-288873" lvl="2">
              <a:lnSpc>
                <a:spcPts val="8112"/>
              </a:lnSpc>
              <a:buFont typeface="Arial"/>
              <a:buChar char="⚬"/>
            </a:pPr>
            <a:r>
              <a:rPr lang="en-US" sz="37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Resource Management</a:t>
            </a:r>
          </a:p>
          <a:p>
            <a:pPr algn="l">
              <a:lnSpc>
                <a:spcPts val="8113"/>
              </a:lnSpc>
            </a:pPr>
            <a:r>
              <a:rPr lang="en-US" b="true" sz="379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 improves the ER model by supporting generalization and specialization.</a:t>
            </a:r>
          </a:p>
          <a:p>
            <a:pPr algn="just" marL="866697" indent="-288899" lvl="2">
              <a:lnSpc>
                <a:spcPts val="8113"/>
              </a:lnSpc>
              <a:buFont typeface="Arial"/>
              <a:buChar char="⚬"/>
            </a:pPr>
            <a:r>
              <a:rPr lang="en-US" sz="379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a flexible and efficient database design for complex applications.</a:t>
            </a:r>
          </a:p>
          <a:p>
            <a:pPr algn="just" marL="866697" indent="-288899" lvl="2">
              <a:lnSpc>
                <a:spcPts val="811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21269" y="467544"/>
            <a:ext cx="842283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 and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0594" y="1629507"/>
            <a:ext cx="11652209" cy="80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6420" indent="-463210" lvl="1">
              <a:lnSpc>
                <a:spcPts val="9183"/>
              </a:lnSpc>
              <a:buFont typeface="Arial"/>
              <a:buChar char="•"/>
            </a:pPr>
            <a:r>
              <a:rPr lang="en-US" sz="42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42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 independence is the ability to modify the database schema without affecting application programs.</a:t>
            </a:r>
          </a:p>
          <a:p>
            <a:pPr algn="just" marL="926420" indent="-463210" lvl="1">
              <a:lnSpc>
                <a:spcPts val="9182"/>
              </a:lnSpc>
              <a:buFont typeface="Arial"/>
              <a:buChar char="•"/>
            </a:pPr>
            <a:r>
              <a:rPr lang="en-US" sz="42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flexibility and simplifies database maintenance.</a:t>
            </a:r>
          </a:p>
          <a:p>
            <a:pPr algn="just" marL="926420" indent="-463210" lvl="1">
              <a:lnSpc>
                <a:spcPts val="9183"/>
              </a:lnSpc>
              <a:buFont typeface="Arial"/>
              <a:buChar char="•"/>
            </a:pPr>
            <a:r>
              <a:rPr lang="en-US" sz="42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achieved using the three-schema architecture in DBMS.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56480" y="3398329"/>
            <a:ext cx="5158864" cy="4185695"/>
            <a:chOff x="0" y="0"/>
            <a:chExt cx="6878485" cy="55809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8447" cy="5580888"/>
            </a:xfrm>
            <a:custGeom>
              <a:avLst/>
              <a:gdLst/>
              <a:ahLst/>
              <a:cxnLst/>
              <a:rect r="r" b="b" t="t" l="l"/>
              <a:pathLst>
                <a:path h="5580888" w="6878447">
                  <a:moveTo>
                    <a:pt x="0" y="0"/>
                  </a:moveTo>
                  <a:lnTo>
                    <a:pt x="6878447" y="0"/>
                  </a:lnTo>
                  <a:lnTo>
                    <a:pt x="6878447" y="5580888"/>
                  </a:lnTo>
                  <a:lnTo>
                    <a:pt x="0" y="5580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625" r="0" b="-1162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987153" y="561975"/>
            <a:ext cx="855452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Independence in DBMS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028101"/>
            <a:ext cx="16181194" cy="851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b="true" sz="39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</a:t>
            </a:r>
            <a:r>
              <a:rPr lang="en-US" b="true" sz="39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Logical Data Independence</a:t>
            </a:r>
          </a:p>
          <a:p>
            <a:pPr algn="just" marL="912420" indent="-304140" lvl="2">
              <a:lnSpc>
                <a:spcPts val="8541"/>
              </a:lnSpc>
              <a:buFont typeface="Arial"/>
              <a:buChar char="⚬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can be made to the conceptual schema without affecting user applications.</a:t>
            </a:r>
          </a:p>
          <a:p>
            <a:pPr algn="just" marL="912337" indent="-304112" lvl="2">
              <a:lnSpc>
                <a:spcPts val="8540"/>
              </a:lnSpc>
              <a:buFont typeface="Arial"/>
              <a:buChar char="⚬"/>
            </a:pPr>
            <a:r>
              <a:rPr lang="en-US" sz="39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Adding a new column to a table.</a:t>
            </a:r>
          </a:p>
          <a:p>
            <a:pPr algn="l">
              <a:lnSpc>
                <a:spcPts val="8541"/>
              </a:lnSpc>
            </a:pPr>
            <a:r>
              <a:rPr lang="en-US" b="true" sz="3990" spc="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Physical Data Independence</a:t>
            </a:r>
          </a:p>
          <a:p>
            <a:pPr algn="just" marL="912420" indent="-304140" lvl="2">
              <a:lnSpc>
                <a:spcPts val="8541"/>
              </a:lnSpc>
              <a:buFont typeface="Arial"/>
              <a:buChar char="⚬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to the internal storage do not affect the conceptual schema.</a:t>
            </a:r>
          </a:p>
          <a:p>
            <a:pPr algn="just" marL="912420" indent="-304140" lvl="2">
              <a:lnSpc>
                <a:spcPts val="8541"/>
              </a:lnSpc>
              <a:buFont typeface="Arial"/>
              <a:buChar char="⚬"/>
            </a:pPr>
            <a:r>
              <a:rPr lang="en-US" sz="39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Changing the storage device or file organization.</a:t>
            </a:r>
          </a:p>
          <a:p>
            <a:pPr algn="just" marL="912420" indent="-304140" lvl="2">
              <a:lnSpc>
                <a:spcPts val="854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69966" y="467544"/>
            <a:ext cx="832544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Types of Data Independence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94287" y="1176900"/>
            <a:ext cx="4363315" cy="8711994"/>
            <a:chOff x="0" y="0"/>
            <a:chExt cx="5817754" cy="1161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7779" cy="11616055"/>
            </a:xfrm>
            <a:custGeom>
              <a:avLst/>
              <a:gdLst/>
              <a:ahLst/>
              <a:cxnLst/>
              <a:rect r="r" b="b" t="t" l="l"/>
              <a:pathLst>
                <a:path h="11616055" w="5817779">
                  <a:moveTo>
                    <a:pt x="0" y="0"/>
                  </a:moveTo>
                  <a:lnTo>
                    <a:pt x="5817779" y="0"/>
                  </a:lnTo>
                  <a:lnTo>
                    <a:pt x="5817779" y="11616055"/>
                  </a:lnTo>
                  <a:lnTo>
                    <a:pt x="0" y="11616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25" t="0" r="-172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693363" y="467544"/>
            <a:ext cx="834080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Three-Schema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31813" y="2386022"/>
            <a:ext cx="10579887" cy="612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DBMS Architect</a:t>
            </a: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ure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Level – User views of the database.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Conceptual Level – Overall logical structure of the database.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Level – Physical storage of data.</a:t>
            </a:r>
          </a:p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security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maintenance</a:t>
            </a:r>
          </a:p>
          <a:p>
            <a:pPr algn="l" marL="863608" indent="-431804" lvl="1">
              <a:lnSpc>
                <a:spcPts val="48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flexibility</a:t>
            </a:r>
          </a:p>
          <a:p>
            <a:pPr algn="l">
              <a:lnSpc>
                <a:spcPts val="4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540678"/>
            <a:ext cx="16181194" cy="789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2"/>
              </a:lnSpc>
            </a:pPr>
            <a:r>
              <a:rPr lang="en-US" b="true" sz="32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Sig</a:t>
            </a:r>
            <a:r>
              <a:rPr lang="en-US" b="true" sz="32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nificance</a:t>
            </a:r>
          </a:p>
          <a:p>
            <a:pPr algn="just" marL="752321" indent="-250774" lvl="2">
              <a:lnSpc>
                <a:spcPts val="7042"/>
              </a:lnSpc>
              <a:buFont typeface="Arial"/>
              <a:buChar char="⚬"/>
            </a:pPr>
            <a:r>
              <a:rPr lang="en-US" sz="32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impact of database changes.</a:t>
            </a:r>
          </a:p>
          <a:p>
            <a:pPr algn="just" marL="752321" indent="-250774" lvl="2">
              <a:lnSpc>
                <a:spcPts val="7042"/>
              </a:lnSpc>
              <a:buFont typeface="Arial"/>
              <a:buChar char="⚬"/>
            </a:pPr>
            <a:r>
              <a:rPr lang="en-US" sz="32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scalability and flexibility.</a:t>
            </a:r>
          </a:p>
          <a:p>
            <a:pPr algn="just" marL="752321" indent="-250774" lvl="2">
              <a:lnSpc>
                <a:spcPts val="7042"/>
              </a:lnSpc>
              <a:buFont typeface="Arial"/>
              <a:buChar char="⚬"/>
            </a:pPr>
            <a:r>
              <a:rPr lang="en-US" sz="32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Simplifies application development.</a:t>
            </a:r>
          </a:p>
          <a:p>
            <a:pPr algn="just" marL="752321" indent="-250774" lvl="2">
              <a:lnSpc>
                <a:spcPts val="7042"/>
              </a:lnSpc>
              <a:buFont typeface="Arial"/>
              <a:buChar char="⚬"/>
            </a:pPr>
            <a:r>
              <a:rPr lang="en-US" sz="32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data management efficiency.</a:t>
            </a:r>
          </a:p>
          <a:p>
            <a:pPr algn="l">
              <a:lnSpc>
                <a:spcPts val="7042"/>
              </a:lnSpc>
            </a:pPr>
            <a:r>
              <a:rPr lang="en-US" b="true" sz="32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just" marL="752321" indent="-250774" lvl="2">
              <a:lnSpc>
                <a:spcPts val="7042"/>
              </a:lnSpc>
              <a:buFont typeface="Arial"/>
              <a:buChar char="⚬"/>
            </a:pPr>
            <a:r>
              <a:rPr lang="en-US" sz="32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independence is an important feature of DBMS that allows changes to the database structure without affecting applications, making systems more reliable and easier to maintain.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7946" y="467544"/>
            <a:ext cx="826948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Significance and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2889" y="1583622"/>
            <a:ext cx="11652209" cy="895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4830" indent="-452415" lvl="1">
              <a:lnSpc>
                <a:spcPts val="8969"/>
              </a:lnSpc>
              <a:buFont typeface="Arial"/>
              <a:buChar char="•"/>
            </a:pPr>
            <a:r>
              <a:rPr lang="en-US" sz="41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41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Management System (DBMS) consists of software components that manage data efficiently.</a:t>
            </a:r>
          </a:p>
          <a:p>
            <a:pPr algn="just" marL="904830" indent="-452415" lvl="1">
              <a:lnSpc>
                <a:spcPts val="8969"/>
              </a:lnSpc>
              <a:buFont typeface="Arial"/>
              <a:buChar char="•"/>
            </a:pPr>
            <a:r>
              <a:rPr lang="en-US" sz="41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components process queries, store data, and ensure secure transactions.</a:t>
            </a:r>
          </a:p>
          <a:p>
            <a:pPr algn="just" marL="904830" indent="-452415" lvl="1">
              <a:lnSpc>
                <a:spcPts val="8969"/>
              </a:lnSpc>
              <a:buFont typeface="Arial"/>
              <a:buChar char="•"/>
            </a:pPr>
            <a:r>
              <a:rPr lang="en-US" sz="419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main components are Query Processor, Storage Manager, and Transaction Manager.</a:t>
            </a:r>
          </a:p>
          <a:p>
            <a:pPr algn="just" marL="958143" indent="-319381" lvl="2">
              <a:lnSpc>
                <a:spcPts val="896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756480" y="3398329"/>
            <a:ext cx="5158864" cy="4185695"/>
            <a:chOff x="0" y="0"/>
            <a:chExt cx="6878485" cy="55809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8447" cy="5580888"/>
            </a:xfrm>
            <a:custGeom>
              <a:avLst/>
              <a:gdLst/>
              <a:ahLst/>
              <a:cxnLst/>
              <a:rect r="r" b="b" t="t" l="l"/>
              <a:pathLst>
                <a:path h="5580888" w="6878447">
                  <a:moveTo>
                    <a:pt x="0" y="0"/>
                  </a:moveTo>
                  <a:lnTo>
                    <a:pt x="6878447" y="0"/>
                  </a:lnTo>
                  <a:lnTo>
                    <a:pt x="6878447" y="5580888"/>
                  </a:lnTo>
                  <a:lnTo>
                    <a:pt x="0" y="5580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53" r="0" b="-135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568767" y="561975"/>
            <a:ext cx="93912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Components of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DBMS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06806" y="1304001"/>
            <a:ext cx="16181194" cy="934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b="true" sz="34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</a:t>
            </a:r>
            <a:r>
              <a:rPr lang="en-US" b="true" sz="34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Query Processor</a:t>
            </a:r>
          </a:p>
          <a:p>
            <a:pPr algn="just" marL="798040" indent="-266013" lvl="2">
              <a:lnSpc>
                <a:spcPts val="7470"/>
              </a:lnSpc>
              <a:buFont typeface="Arial"/>
              <a:buChar char="⚬"/>
            </a:pPr>
            <a:r>
              <a:rPr lang="en-US" sz="34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Interprets and executes SQL queries.</a:t>
            </a:r>
          </a:p>
          <a:p>
            <a:pPr algn="just" marL="798040" indent="-266013" lvl="2">
              <a:lnSpc>
                <a:spcPts val="7470"/>
              </a:lnSpc>
              <a:buFont typeface="Arial"/>
              <a:buChar char="⚬"/>
            </a:pPr>
            <a:r>
              <a:rPr lang="en-US" sz="34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queries for better performance.</a:t>
            </a:r>
          </a:p>
          <a:p>
            <a:pPr algn="l">
              <a:lnSpc>
                <a:spcPts val="7470"/>
              </a:lnSpc>
            </a:pPr>
            <a:r>
              <a:rPr lang="en-US" b="true" sz="34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Storage Manager</a:t>
            </a:r>
          </a:p>
          <a:p>
            <a:pPr algn="just" marL="798113" indent="-266038" lvl="2">
              <a:lnSpc>
                <a:spcPts val="7471"/>
              </a:lnSpc>
              <a:buFont typeface="Arial"/>
              <a:buChar char="⚬"/>
            </a:pPr>
            <a:r>
              <a:rPr lang="en-US" sz="34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data storage on disk.</a:t>
            </a:r>
          </a:p>
          <a:p>
            <a:pPr algn="just" marL="798040" indent="-266013" lvl="2">
              <a:lnSpc>
                <a:spcPts val="7470"/>
              </a:lnSpc>
              <a:buFont typeface="Arial"/>
              <a:buChar char="⚬"/>
            </a:pPr>
            <a:r>
              <a:rPr lang="en-US" sz="34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files, indexes, and memory buffers.</a:t>
            </a:r>
          </a:p>
          <a:p>
            <a:pPr algn="l">
              <a:lnSpc>
                <a:spcPts val="7470"/>
              </a:lnSpc>
            </a:pPr>
            <a:r>
              <a:rPr lang="en-US" b="true" sz="34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Transaction Manager</a:t>
            </a:r>
          </a:p>
          <a:p>
            <a:pPr algn="just" marL="798040" indent="-266013" lvl="2">
              <a:lnSpc>
                <a:spcPts val="7470"/>
              </a:lnSpc>
              <a:buFont typeface="Arial"/>
              <a:buChar char="⚬"/>
            </a:pPr>
            <a:r>
              <a:rPr lang="en-US" sz="34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data consistency and reliability.</a:t>
            </a:r>
          </a:p>
          <a:p>
            <a:pPr algn="just" marL="798113" indent="-266038" lvl="2">
              <a:lnSpc>
                <a:spcPts val="7471"/>
              </a:lnSpc>
              <a:buFont typeface="Arial"/>
              <a:buChar char="⚬"/>
            </a:pPr>
            <a:r>
              <a:rPr lang="en-US" sz="34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ACID properties and recovery.</a:t>
            </a:r>
          </a:p>
          <a:p>
            <a:pPr algn="just" marL="798113" indent="-266038" lvl="2">
              <a:lnSpc>
                <a:spcPts val="74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17766" y="467544"/>
            <a:ext cx="542984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76974" y="1637376"/>
            <a:ext cx="2083766" cy="7359879"/>
          </a:xfrm>
          <a:custGeom>
            <a:avLst/>
            <a:gdLst/>
            <a:ahLst/>
            <a:cxnLst/>
            <a:rect r="r" b="b" t="t" l="l"/>
            <a:pathLst>
              <a:path h="7359879" w="2083766">
                <a:moveTo>
                  <a:pt x="0" y="0"/>
                </a:moveTo>
                <a:lnTo>
                  <a:pt x="2083766" y="0"/>
                </a:lnTo>
                <a:lnTo>
                  <a:pt x="2083766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21433" y="467544"/>
            <a:ext cx="588466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DB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8776" y="3476625"/>
            <a:ext cx="12839224" cy="33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Functions</a:t>
            </a:r>
          </a:p>
          <a:p>
            <a:pPr algn="l" marL="1165860" indent="-582930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Processes user requests.</a:t>
            </a:r>
          </a:p>
          <a:p>
            <a:pPr algn="l" marL="1165860" indent="-582930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and retrieves data.</a:t>
            </a:r>
          </a:p>
          <a:p>
            <a:pPr algn="l" marL="1165860" indent="-582930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secure and reliable transactions.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00204" y="561975"/>
            <a:ext cx="832711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Advantages and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5334" y="1717446"/>
            <a:ext cx="14573698" cy="803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2"/>
              </a:lnSpc>
            </a:pPr>
            <a:r>
              <a:rPr lang="en-US" b="true" sz="32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</a:t>
            </a:r>
            <a:r>
              <a:rPr lang="en-US" b="true" sz="32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vantages</a:t>
            </a:r>
          </a:p>
          <a:p>
            <a:pPr algn="l" marL="754149" indent="-251383" lvl="2">
              <a:lnSpc>
                <a:spcPts val="8082"/>
              </a:lnSpc>
              <a:buFont typeface="Arial"/>
              <a:buChar char="⚬"/>
            </a:pPr>
            <a:r>
              <a:rPr lang="en-US" sz="32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query processing.</a:t>
            </a:r>
          </a:p>
          <a:p>
            <a:pPr algn="l" marL="754273" indent="-251424" lvl="2">
              <a:lnSpc>
                <a:spcPts val="8084"/>
              </a:lnSpc>
              <a:buFont typeface="Arial"/>
              <a:buChar char="⚬"/>
            </a:pPr>
            <a:r>
              <a:rPr lang="en-US" sz="32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data storage.</a:t>
            </a:r>
          </a:p>
          <a:p>
            <a:pPr algn="l" marL="754149" indent="-251383" lvl="2">
              <a:lnSpc>
                <a:spcPts val="8082"/>
              </a:lnSpc>
              <a:buFont typeface="Arial"/>
              <a:buChar char="⚬"/>
            </a:pPr>
            <a:r>
              <a:rPr lang="en-US" sz="32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transaction management.</a:t>
            </a:r>
          </a:p>
          <a:p>
            <a:pPr algn="l" marL="754149" indent="-251383" lvl="2">
              <a:lnSpc>
                <a:spcPts val="8082"/>
              </a:lnSpc>
              <a:buFont typeface="Arial"/>
              <a:buChar char="⚬"/>
            </a:pPr>
            <a:r>
              <a:rPr lang="en-US" sz="32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database performance.</a:t>
            </a:r>
          </a:p>
          <a:p>
            <a:pPr algn="l">
              <a:lnSpc>
                <a:spcPts val="8082"/>
              </a:lnSpc>
            </a:pPr>
            <a:r>
              <a:rPr lang="en-US" b="true" sz="32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 marL="754149" indent="-251383" lvl="2">
              <a:lnSpc>
                <a:spcPts val="8082"/>
              </a:lnSpc>
              <a:buFont typeface="Arial"/>
              <a:buChar char="⚬"/>
            </a:pPr>
            <a:r>
              <a:rPr lang="en-US" sz="32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Query Processor, Storage Manager, and Transaction Manager work together to ensure efficient, secure, and reliable database operations in a DBMS.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8955" y="2922982"/>
            <a:ext cx="11652209" cy="626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6"/>
              </a:lnSpc>
            </a:pPr>
            <a:r>
              <a:rPr lang="en-US" b="true" sz="3890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and Weak Entities in ER Modeling</a:t>
            </a:r>
          </a:p>
          <a:p>
            <a:pPr algn="just" marL="840062" indent="-420031" lvl="1">
              <a:lnSpc>
                <a:spcPts val="8327"/>
              </a:lnSpc>
              <a:buFont typeface="Arial"/>
              <a:buChar char="•"/>
            </a:pPr>
            <a:r>
              <a:rPr lang="en-US" sz="38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entity represents a real-world object in a database.</a:t>
            </a:r>
          </a:p>
          <a:p>
            <a:pPr algn="just" marL="840062" indent="-420031" lvl="1">
              <a:lnSpc>
                <a:spcPts val="8326"/>
              </a:lnSpc>
              <a:buFont typeface="Arial"/>
              <a:buChar char="•"/>
            </a:pPr>
            <a:r>
              <a:rPr lang="en-US" sz="38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Entities are classified as Strong Entities and Weak Entities.</a:t>
            </a:r>
          </a:p>
          <a:p>
            <a:pPr algn="just" marL="840062" indent="-420031" lvl="1">
              <a:lnSpc>
                <a:spcPts val="8327"/>
              </a:lnSpc>
              <a:buFont typeface="Arial"/>
              <a:buChar char="•"/>
            </a:pPr>
            <a:r>
              <a:rPr lang="en-US" sz="3890" spc="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help define relationships and organize data efficiently in an ER model.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56480" y="3025105"/>
            <a:ext cx="5158864" cy="4558919"/>
            <a:chOff x="0" y="0"/>
            <a:chExt cx="6878485" cy="6078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8447" cy="6078517"/>
            </a:xfrm>
            <a:custGeom>
              <a:avLst/>
              <a:gdLst/>
              <a:ahLst/>
              <a:cxnLst/>
              <a:rect r="r" b="b" t="t" l="l"/>
              <a:pathLst>
                <a:path h="6078517" w="6878447">
                  <a:moveTo>
                    <a:pt x="0" y="0"/>
                  </a:moveTo>
                  <a:lnTo>
                    <a:pt x="6878447" y="0"/>
                  </a:lnTo>
                  <a:lnTo>
                    <a:pt x="6878447" y="6078517"/>
                  </a:lnTo>
                  <a:lnTo>
                    <a:pt x="0" y="607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79" r="0" b="-657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72271" y="561975"/>
            <a:ext cx="1238428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and Weak Entities in E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 Modeling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5334" y="1585473"/>
            <a:ext cx="16181194" cy="915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b="true" sz="30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</a:t>
            </a:r>
            <a:r>
              <a:rPr lang="en-US" b="true" sz="30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ong Entity</a:t>
            </a:r>
          </a:p>
          <a:p>
            <a:pPr algn="just" marL="706602" indent="-235534" lvl="2">
              <a:lnSpc>
                <a:spcPts val="6614"/>
              </a:lnSpc>
              <a:buFont typeface="Arial"/>
              <a:buChar char="⚬"/>
            </a:pPr>
            <a:r>
              <a:rPr lang="en-US" sz="30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its own Primary Key.</a:t>
            </a:r>
          </a:p>
          <a:p>
            <a:pPr algn="just" marL="706667" indent="-235556" lvl="2">
              <a:lnSpc>
                <a:spcPts val="6615"/>
              </a:lnSpc>
              <a:buFont typeface="Arial"/>
              <a:buChar char="⚬"/>
            </a:pPr>
            <a:r>
              <a:rPr lang="en-US" sz="30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Exists independently.</a:t>
            </a:r>
          </a:p>
          <a:p>
            <a:pPr algn="just" marL="706667" indent="-235556" lvl="2">
              <a:lnSpc>
                <a:spcPts val="6615"/>
              </a:lnSpc>
              <a:buFont typeface="Arial"/>
              <a:buChar char="⚬"/>
            </a:pPr>
            <a:r>
              <a:rPr lang="en-US" sz="30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Represented by a single rectangle.</a:t>
            </a:r>
          </a:p>
          <a:p>
            <a:pPr algn="just" marL="706602" indent="-235534" lvl="2">
              <a:lnSpc>
                <a:spcPts val="6614"/>
              </a:lnSpc>
              <a:buFont typeface="Arial"/>
              <a:buChar char="⚬"/>
            </a:pPr>
            <a:r>
              <a:rPr lang="en-US" sz="30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Student, Employee, Customer</a:t>
            </a:r>
          </a:p>
          <a:p>
            <a:pPr algn="l">
              <a:lnSpc>
                <a:spcPts val="6614"/>
              </a:lnSpc>
            </a:pPr>
            <a:r>
              <a:rPr lang="en-US" b="true" sz="3090" spc="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 Entity</a:t>
            </a:r>
          </a:p>
          <a:p>
            <a:pPr algn="just" marL="706667" indent="-235556" lvl="2">
              <a:lnSpc>
                <a:spcPts val="6615"/>
              </a:lnSpc>
              <a:buFont typeface="Arial"/>
              <a:buChar char="⚬"/>
            </a:pPr>
            <a:r>
              <a:rPr lang="en-US" sz="30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a Primary Key.</a:t>
            </a:r>
          </a:p>
          <a:p>
            <a:pPr algn="just" marL="706667" indent="-235556" lvl="2">
              <a:lnSpc>
                <a:spcPts val="6615"/>
              </a:lnSpc>
              <a:buFont typeface="Arial"/>
              <a:buChar char="⚬"/>
            </a:pPr>
            <a:r>
              <a:rPr lang="en-US" sz="30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Depends on a strong entity for identification.</a:t>
            </a:r>
          </a:p>
          <a:p>
            <a:pPr algn="just" marL="706602" indent="-235534" lvl="2">
              <a:lnSpc>
                <a:spcPts val="6614"/>
              </a:lnSpc>
              <a:buFont typeface="Arial"/>
              <a:buChar char="⚬"/>
            </a:pPr>
            <a:r>
              <a:rPr lang="en-US" sz="3090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Represented by a double rectangle.</a:t>
            </a:r>
          </a:p>
          <a:p>
            <a:pPr algn="just" marL="706667" indent="-235556" lvl="2">
              <a:lnSpc>
                <a:spcPts val="6615"/>
              </a:lnSpc>
              <a:buFont typeface="Arial"/>
              <a:buChar char="⚬"/>
            </a:pPr>
            <a:r>
              <a:rPr lang="en-US" sz="3090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Dependent, Order Item, Nominee</a:t>
            </a:r>
          </a:p>
          <a:p>
            <a:pPr algn="just" marL="706667" indent="-235556" lvl="2">
              <a:lnSpc>
                <a:spcPts val="661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07922" y="467544"/>
            <a:ext cx="864953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Entity vs Weak Entity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81864" y="1284084"/>
            <a:ext cx="4661895" cy="9002916"/>
            <a:chOff x="0" y="0"/>
            <a:chExt cx="6215860" cy="12003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5885" cy="12003952"/>
            </a:xfrm>
            <a:custGeom>
              <a:avLst/>
              <a:gdLst/>
              <a:ahLst/>
              <a:cxnLst/>
              <a:rect r="r" b="b" t="t" l="l"/>
              <a:pathLst>
                <a:path h="12003952" w="6215885">
                  <a:moveTo>
                    <a:pt x="0" y="0"/>
                  </a:moveTo>
                  <a:lnTo>
                    <a:pt x="6215885" y="0"/>
                  </a:lnTo>
                  <a:lnTo>
                    <a:pt x="6215885" y="12003952"/>
                  </a:lnTo>
                  <a:lnTo>
                    <a:pt x="0" y="12003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4" t="0" r="-87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38256" y="467544"/>
            <a:ext cx="13851017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 diagram showing Employee and Dependent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0979" y="2109885"/>
            <a:ext cx="6600527" cy="649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b="true" sz="4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</a:t>
            </a:r>
            <a:r>
              <a:rPr lang="en-US" b="true" sz="4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ong Entity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Primary Key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Rectangle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exist alone</a:t>
            </a:r>
          </a:p>
          <a:p>
            <a:pPr algn="l">
              <a:lnSpc>
                <a:spcPts val="5160"/>
              </a:lnSpc>
            </a:pPr>
            <a:r>
              <a:rPr lang="en-US" b="true" sz="4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 Entity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Primary Key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Depends on Strong Entity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Rectangle</a:t>
            </a:r>
          </a:p>
          <a:p>
            <a:pPr algn="l" marL="928376" indent="-464188" lvl="1">
              <a:lnSpc>
                <a:spcPts val="516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exist alone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222010" cy="1406223"/>
            <a:chOff x="0" y="0"/>
            <a:chExt cx="1629346" cy="187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410" cy="1874901"/>
            </a:xfrm>
            <a:custGeom>
              <a:avLst/>
              <a:gdLst/>
              <a:ahLst/>
              <a:cxnLst/>
              <a:rect r="r" b="b" t="t" l="l"/>
              <a:pathLst>
                <a:path h="1874901" w="1629410">
                  <a:moveTo>
                    <a:pt x="0" y="0"/>
                  </a:moveTo>
                  <a:lnTo>
                    <a:pt x="1629410" y="0"/>
                  </a:lnTo>
                  <a:lnTo>
                    <a:pt x="162941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3" b="-36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2196" y="144485"/>
            <a:ext cx="1548384" cy="1579559"/>
            <a:chOff x="0" y="0"/>
            <a:chExt cx="2064512" cy="2106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512" cy="2106041"/>
            </a:xfrm>
            <a:custGeom>
              <a:avLst/>
              <a:gdLst/>
              <a:ahLst/>
              <a:cxnLst/>
              <a:rect r="r" b="b" t="t" l="l"/>
              <a:pathLst>
                <a:path h="2106041" w="2064512">
                  <a:moveTo>
                    <a:pt x="0" y="0"/>
                  </a:moveTo>
                  <a:lnTo>
                    <a:pt x="2064512" y="0"/>
                  </a:lnTo>
                  <a:lnTo>
                    <a:pt x="2064512" y="2106041"/>
                  </a:lnTo>
                  <a:lnTo>
                    <a:pt x="0" y="210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531153"/>
            <a:ext cx="16181194" cy="90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6"/>
              </a:lnSpc>
            </a:pPr>
            <a:r>
              <a:rPr lang="en-US" b="true" sz="33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  <a:r>
              <a:rPr lang="en-US" b="true" sz="33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pplications</a:t>
            </a:r>
          </a:p>
          <a:p>
            <a:pPr algn="just" marL="775180" indent="-258393" lvl="2">
              <a:lnSpc>
                <a:spcPts val="7256"/>
              </a:lnSpc>
              <a:buFont typeface="Arial"/>
              <a:buChar char="⚬"/>
            </a:pPr>
            <a:r>
              <a:rPr lang="en-US" sz="33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Systems</a:t>
            </a:r>
          </a:p>
          <a:p>
            <a:pPr algn="just" marL="775251" indent="-258417" lvl="2">
              <a:lnSpc>
                <a:spcPts val="7257"/>
              </a:lnSpc>
              <a:buFont typeface="Arial"/>
              <a:buChar char="⚬"/>
            </a:pPr>
            <a:r>
              <a:rPr lang="en-US" sz="33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Management</a:t>
            </a:r>
          </a:p>
          <a:p>
            <a:pPr algn="just" marL="775180" indent="-258393" lvl="2">
              <a:lnSpc>
                <a:spcPts val="7256"/>
              </a:lnSpc>
              <a:buFont typeface="Arial"/>
              <a:buChar char="⚬"/>
            </a:pPr>
            <a:r>
              <a:rPr lang="en-US" sz="33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Management</a:t>
            </a:r>
          </a:p>
          <a:p>
            <a:pPr algn="just" marL="775180" indent="-258393" lvl="2">
              <a:lnSpc>
                <a:spcPts val="7256"/>
              </a:lnSpc>
              <a:buFont typeface="Arial"/>
              <a:buChar char="⚬"/>
            </a:pPr>
            <a:r>
              <a:rPr lang="en-US" sz="3390" spc="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Database Systems</a:t>
            </a:r>
          </a:p>
          <a:p>
            <a:pPr algn="l">
              <a:lnSpc>
                <a:spcPts val="7256"/>
              </a:lnSpc>
            </a:pPr>
            <a:r>
              <a:rPr lang="en-US" b="true" sz="3390" spc="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just" marL="775251" indent="-258417" lvl="2">
              <a:lnSpc>
                <a:spcPts val="7257"/>
              </a:lnSpc>
              <a:buFont typeface="Arial"/>
              <a:buChar char="⚬"/>
            </a:pPr>
            <a:r>
              <a:rPr lang="en-US" sz="33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entities have their own identity and can exist independently.</a:t>
            </a:r>
          </a:p>
          <a:p>
            <a:pPr algn="just" marL="775251" indent="-258417" lvl="2">
              <a:lnSpc>
                <a:spcPts val="7257"/>
              </a:lnSpc>
              <a:buFont typeface="Arial"/>
              <a:buChar char="⚬"/>
            </a:pPr>
            <a:r>
              <a:rPr lang="en-US" sz="33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entities rely on strong entities for identification.</a:t>
            </a:r>
          </a:p>
          <a:p>
            <a:pPr algn="just" marL="775251" indent="-258417" lvl="2">
              <a:lnSpc>
                <a:spcPts val="7257"/>
              </a:lnSpc>
              <a:buFont typeface="Arial"/>
              <a:buChar char="⚬"/>
            </a:pPr>
            <a:r>
              <a:rPr lang="en-US" sz="3390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these concepts helps in designing accurate and efficient ER models.</a:t>
            </a:r>
          </a:p>
          <a:p>
            <a:pPr algn="just" marL="775251" indent="-258417" lvl="2">
              <a:lnSpc>
                <a:spcPts val="725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21269" y="467544"/>
            <a:ext cx="842283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 and </a:t>
            </a: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44000"/>
            <a:ext cx="152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25" y="231153"/>
            <a:ext cx="1415853" cy="1629280"/>
            <a:chOff x="0" y="0"/>
            <a:chExt cx="1887804" cy="2172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7855" cy="2172335"/>
            </a:xfrm>
            <a:custGeom>
              <a:avLst/>
              <a:gdLst/>
              <a:ahLst/>
              <a:cxnLst/>
              <a:rect r="r" b="b" t="t" l="l"/>
              <a:pathLst>
                <a:path h="2172335" w="1887855">
                  <a:moveTo>
                    <a:pt x="0" y="0"/>
                  </a:moveTo>
                  <a:lnTo>
                    <a:pt x="1887855" y="0"/>
                  </a:lnTo>
                  <a:lnTo>
                    <a:pt x="1887855" y="2172335"/>
                  </a:lnTo>
                  <a:lnTo>
                    <a:pt x="0" y="2172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54" r="2" b="-36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8484" y="144485"/>
            <a:ext cx="1682086" cy="1715957"/>
            <a:chOff x="0" y="0"/>
            <a:chExt cx="2242782" cy="2287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2820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42820">
                  <a:moveTo>
                    <a:pt x="0" y="0"/>
                  </a:moveTo>
                  <a:lnTo>
                    <a:pt x="2242820" y="0"/>
                  </a:lnTo>
                  <a:lnTo>
                    <a:pt x="2242820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102086" y="2870235"/>
            <a:ext cx="15380122" cy="262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4"/>
              </a:lnSpc>
            </a:pPr>
            <a:r>
              <a:rPr lang="en-US" sz="679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DAHQMoaRhQA</dc:identifier>
  <dcterms:modified xsi:type="dcterms:W3CDTF">2011-08-01T06:04:30Z</dcterms:modified>
  <cp:revision>1</cp:revision>
  <dc:title>ER Diagram for an Online Library System ER Diagram represents entities, attributes, and relationships. Used to design a database before implementation. Helps organize library data efficiently.</dc:title>
</cp:coreProperties>
</file>